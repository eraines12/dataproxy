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y="6858000" cx="12192000"/>
  <p:notesSz cx="6858000" cy="9144000"/>
  <p:embeddedFontLst>
    <p:embeddedFont>
      <p:font typeface="Afacad Flux"/>
      <p:regular r:id="rId15"/>
      <p:bold r:id="rId16"/>
    </p:embeddedFont>
    <p:embeddedFont>
      <p:font typeface="Comfortaa"/>
      <p:regular r:id="rId17"/>
      <p:bold r:id="rId18"/>
    </p:embeddedFont>
    <p:embeddedFont>
      <p:font typeface="Afacad Flux SemiBold"/>
      <p:regular r:id="rId19"/>
      <p:bold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1EEB1BC-03CA-4238-B1A2-6C6A4D50A31A}">
  <a:tblStyle styleId="{81EEB1BC-03CA-4238-B1A2-6C6A4D50A31A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AfacadFluxSemiBold-bold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font" Target="fonts/AfacadFlux-regular.fntdata"/><Relationship Id="rId14" Type="http://schemas.openxmlformats.org/officeDocument/2006/relationships/slide" Target="slides/slide8.xml"/><Relationship Id="rId17" Type="http://schemas.openxmlformats.org/officeDocument/2006/relationships/font" Target="fonts/Comfortaa-regular.fntdata"/><Relationship Id="rId16" Type="http://schemas.openxmlformats.org/officeDocument/2006/relationships/font" Target="fonts/AfacadFlux-bold.fntdata"/><Relationship Id="rId5" Type="http://schemas.openxmlformats.org/officeDocument/2006/relationships/slideMaster" Target="slideMasters/slideMaster1.xml"/><Relationship Id="rId19" Type="http://schemas.openxmlformats.org/officeDocument/2006/relationships/font" Target="fonts/AfacadFluxSemiBold-regular.fntdata"/><Relationship Id="rId6" Type="http://schemas.openxmlformats.org/officeDocument/2006/relationships/notesMaster" Target="notesMasters/notesMaster1.xml"/><Relationship Id="rId18" Type="http://schemas.openxmlformats.org/officeDocument/2006/relationships/font" Target="fonts/Comfortaa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5.png"/><Relationship Id="rId4" Type="http://schemas.openxmlformats.org/officeDocument/2006/relationships/image" Target="../media/image5.png"/><Relationship Id="rId5" Type="http://schemas.openxmlformats.org/officeDocument/2006/relationships/image" Target="../media/image11.png"/><Relationship Id="rId6" Type="http://schemas.openxmlformats.org/officeDocument/2006/relationships/image" Target="../media/image19.png"/><Relationship Id="rId7" Type="http://schemas.openxmlformats.org/officeDocument/2006/relationships/image" Target="../media/image8.png"/><Relationship Id="rId8" Type="http://schemas.openxmlformats.org/officeDocument/2006/relationships/image" Target="../media/image1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4.png"/><Relationship Id="rId4" Type="http://schemas.openxmlformats.org/officeDocument/2006/relationships/image" Target="../media/image1.png"/><Relationship Id="rId5" Type="http://schemas.openxmlformats.org/officeDocument/2006/relationships/image" Target="../media/image10.png"/><Relationship Id="rId6" Type="http://schemas.openxmlformats.org/officeDocument/2006/relationships/image" Target="../media/image4.png"/><Relationship Id="rId7" Type="http://schemas.openxmlformats.org/officeDocument/2006/relationships/image" Target="../media/image2.png"/><Relationship Id="rId8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Relationship Id="rId4" Type="http://schemas.openxmlformats.org/officeDocument/2006/relationships/image" Target="../media/image20.png"/><Relationship Id="rId5" Type="http://schemas.openxmlformats.org/officeDocument/2006/relationships/image" Target="../media/image17.png"/><Relationship Id="rId6" Type="http://schemas.openxmlformats.org/officeDocument/2006/relationships/image" Target="../media/image22.png"/><Relationship Id="rId7" Type="http://schemas.openxmlformats.org/officeDocument/2006/relationships/image" Target="../media/image1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://drive.google.com/file/d/1DUPgaEonDEXQoBMkt_c0QbPRiCjUb9cO/view" TargetMode="External"/><Relationship Id="rId4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8.png"/><Relationship Id="rId4" Type="http://schemas.openxmlformats.org/officeDocument/2006/relationships/image" Target="../media/image21.png"/><Relationship Id="rId5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DCFD8B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6675" y="3931000"/>
            <a:ext cx="4238625" cy="139345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080373" y="1805136"/>
            <a:ext cx="10031253" cy="868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700" u="none" cap="none" strike="noStrike">
                <a:solidFill>
                  <a:srgbClr val="1E293B"/>
                </a:solidFill>
                <a:latin typeface="Comfortaa"/>
                <a:ea typeface="Comfortaa"/>
                <a:cs typeface="Comfortaa"/>
                <a:sym typeface="Comfortaa"/>
              </a:rPr>
              <a:t>Hugging Face vs. OpenAI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2967037" y="2959447"/>
            <a:ext cx="6257925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50" u="none" cap="none" strike="noStrike">
                <a:solidFill>
                  <a:srgbClr val="334155"/>
                </a:solidFill>
                <a:latin typeface="Afacad Flux SemiBold"/>
                <a:ea typeface="Afacad Flux SemiBold"/>
                <a:cs typeface="Afacad Flux SemiBold"/>
                <a:sym typeface="Afacad Flux SemiBold"/>
              </a:rPr>
              <a:t>Open-Source &amp; Self-Hosted AI vs. Proprietary Cloud APIs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4357687" y="4121497"/>
            <a:ext cx="3476625" cy="3466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334155"/>
                </a:solidFill>
                <a:latin typeface="Afacad Flux"/>
                <a:ea typeface="Afacad Flux"/>
                <a:cs typeface="Afacad Flux"/>
                <a:sym typeface="Afacad Flux"/>
              </a:rPr>
              <a:t>Course: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facad Flux"/>
                <a:ea typeface="Afacad Flux"/>
                <a:cs typeface="Afacad Flux"/>
                <a:sym typeface="Afacad Flux"/>
              </a:rPr>
              <a:t> ITA2376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4167150" y="4468125"/>
            <a:ext cx="3857700" cy="96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334155"/>
                </a:solidFill>
                <a:latin typeface="Afacad Flux"/>
                <a:ea typeface="Afacad Flux"/>
                <a:cs typeface="Afacad Flux"/>
                <a:sym typeface="Afacad Flux"/>
              </a:rPr>
              <a:t>Team: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facad Flux"/>
                <a:ea typeface="Afacad Flux"/>
                <a:cs typeface="Afacad Flux"/>
                <a:sym typeface="Afacad Flux"/>
              </a:rPr>
              <a:t> </a:t>
            </a:r>
            <a:r>
              <a:rPr lang="en-US" sz="1150">
                <a:solidFill>
                  <a:srgbClr val="273540"/>
                </a:solidFill>
              </a:rPr>
              <a:t>Brandon Matias, Elijah Raines, Justin Davis, Jonah Joseph</a:t>
            </a:r>
            <a:endParaRPr sz="1150">
              <a:solidFill>
                <a:srgbClr val="273540"/>
              </a:solidFill>
            </a:endParaRPr>
          </a:p>
          <a:p>
            <a:pPr indent="0" lvl="0" marL="0" marR="0" rtl="0" algn="ctr">
              <a:lnSpc>
                <a:spcPct val="13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50">
              <a:solidFill>
                <a:srgbClr val="334155"/>
              </a:solidFill>
              <a:latin typeface="Afacad Flux"/>
              <a:ea typeface="Afacad Flux"/>
              <a:cs typeface="Afacad Flux"/>
              <a:sym typeface="Afacad Flux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0F2FE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900" u="none" cap="none" strike="noStrike">
                <a:solidFill>
                  <a:srgbClr val="1E293B"/>
                </a:solidFill>
                <a:latin typeface="Comfortaa"/>
                <a:ea typeface="Comfortaa"/>
                <a:cs typeface="Comfortaa"/>
                <a:sym typeface="Comfortaa"/>
              </a:rPr>
              <a:t>The Core Dilemma in AI Engineering</a:t>
            </a:r>
            <a:endParaRPr/>
          </a:p>
        </p:txBody>
      </p:sp>
      <p:sp>
        <p:nvSpPr>
          <p:cNvPr id="94" name="Google Shape;94;p14"/>
          <p:cNvSpPr txBox="1"/>
          <p:nvPr/>
        </p:nvSpPr>
        <p:spPr>
          <a:xfrm>
            <a:off x="571500" y="1528167"/>
            <a:ext cx="5500687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369A1"/>
                </a:solidFill>
                <a:latin typeface="Comfortaa"/>
                <a:ea typeface="Comfortaa"/>
                <a:cs typeface="Comfortaa"/>
                <a:sym typeface="Comfortaa"/>
              </a:rPr>
              <a:t>Build &amp; Host vs. Consume via API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904875" y="2490192"/>
            <a:ext cx="4905375" cy="693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334155"/>
                </a:solidFill>
                <a:latin typeface="Afacad Flux"/>
                <a:ea typeface="Afacad Flux"/>
                <a:cs typeface="Afacad Flux"/>
                <a:sym typeface="Afacad Flux"/>
              </a:rPr>
              <a:t>Do-It-Yourself (DIY):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facad Flux"/>
                <a:ea typeface="Afacad Flux"/>
                <a:cs typeface="Afacad Flux"/>
                <a:sym typeface="Afacad Flux"/>
              </a:rPr>
              <a:t> Do you want to build and host the AI yourself using open-source tools?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904875" y="3421558"/>
            <a:ext cx="4905375" cy="693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334155"/>
                </a:solidFill>
                <a:latin typeface="Afacad Flux"/>
                <a:ea typeface="Afacad Flux"/>
                <a:cs typeface="Afacad Flux"/>
                <a:sym typeface="Afacad Flux"/>
              </a:rPr>
              <a:t>Service-Based: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facad Flux"/>
                <a:ea typeface="Afacad Flux"/>
                <a:cs typeface="Afacad Flux"/>
                <a:sym typeface="Afacad Flux"/>
              </a:rPr>
              <a:t> Or do you just want to pay to use a finished, super-smart AI over the internet?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904875" y="4352925"/>
            <a:ext cx="4905375" cy="693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50" u="none" cap="none" strike="noStrike">
                <a:solidFill>
                  <a:srgbClr val="334155"/>
                </a:solidFill>
                <a:latin typeface="Afacad Flux"/>
                <a:ea typeface="Afacad Flux"/>
                <a:cs typeface="Afacad Flux"/>
                <a:sym typeface="Afacad Flux"/>
              </a:rPr>
              <a:t>This big choice impacts your project's privacy, cost, hardware needs, and ease of use.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904875" y="5284291"/>
            <a:ext cx="4905375" cy="693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50" u="none" cap="none" strike="noStrike">
                <a:solidFill>
                  <a:srgbClr val="334155"/>
                </a:solidFill>
                <a:latin typeface="Afacad Flux"/>
                <a:ea typeface="Afacad Flux"/>
                <a:cs typeface="Afacad Flux"/>
                <a:sym typeface="Afacad Flux"/>
              </a:rPr>
              <a:t>Let's explore the two biggest players in the AI world today!</a:t>
            </a:r>
            <a:endParaRPr/>
          </a:p>
        </p:txBody>
      </p:sp>
      <p:pic>
        <p:nvPicPr>
          <p:cNvPr descr="image.png" id="99" name="Google Shape;99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81750" y="1528167"/>
            <a:ext cx="5238900" cy="45720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  <p:pic>
        <p:nvPicPr>
          <p:cNvPr descr="image.png" id="100" name="Google Shape;100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509242"/>
            <a:ext cx="13335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1" name="Google Shape;101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3440608"/>
            <a:ext cx="13335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2" name="Google Shape;102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371975"/>
            <a:ext cx="13335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3" name="Google Shape;103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5303341"/>
            <a:ext cx="133350" cy="276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8" name="Google Shape;10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1767036"/>
            <a:ext cx="3429000" cy="420960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9" name="Google Shape;109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81500" y="1767036"/>
            <a:ext cx="3429000" cy="420960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0" name="Google Shape;110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91500" y="1767036"/>
            <a:ext cx="3429000" cy="4209603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5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900" u="none" cap="none" strike="noStrike">
                <a:solidFill>
                  <a:srgbClr val="1E293B"/>
                </a:solidFill>
                <a:latin typeface="Comfortaa"/>
                <a:ea typeface="Comfortaa"/>
                <a:cs typeface="Comfortaa"/>
                <a:sym typeface="Comfortaa"/>
              </a:rPr>
              <a:t>Deep Dive: Hugging Face (DIY AI)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1625917" y="3214836"/>
            <a:ext cx="1320165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Comfortaa"/>
                <a:ea typeface="Comfortaa"/>
                <a:cs typeface="Comfortaa"/>
                <a:sym typeface="Comfortaa"/>
              </a:rPr>
              <a:t>Origins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857250" y="3719661"/>
            <a:ext cx="2857500" cy="17331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50" u="none" cap="none" strike="noStrike">
                <a:solidFill>
                  <a:srgbClr val="334155"/>
                </a:solidFill>
                <a:latin typeface="Afacad Flux"/>
                <a:ea typeface="Afacad Flux"/>
                <a:cs typeface="Afacad Flux"/>
                <a:sym typeface="Afacad Flux"/>
              </a:rPr>
              <a:t>Started in 2016. Created a massive library that lets anyone use powerful, pre-built AI models completely for free.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4940855" y="3214836"/>
            <a:ext cx="2310288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Comfortaa"/>
                <a:ea typeface="Comfortaa"/>
                <a:cs typeface="Comfortaa"/>
                <a:sym typeface="Comfortaa"/>
              </a:rPr>
              <a:t>Total Control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4667250" y="3719661"/>
            <a:ext cx="2857500" cy="17331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50" u="none" cap="none" strike="noStrike">
                <a:solidFill>
                  <a:srgbClr val="334155"/>
                </a:solidFill>
                <a:latin typeface="Afacad Flux"/>
                <a:ea typeface="Afacad Flux"/>
                <a:cs typeface="Afacad Flux"/>
                <a:sym typeface="Afacad Flux"/>
              </a:rPr>
              <a:t>You have total ownership! See exactly how the AI works, change it to fit your needs, and keep everything strictly private.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8830865" y="3214836"/>
            <a:ext cx="2150268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Comfortaa"/>
                <a:ea typeface="Comfortaa"/>
                <a:cs typeface="Comfortaa"/>
                <a:sym typeface="Comfortaa"/>
              </a:rPr>
              <a:t>Runs Offline</a:t>
            </a:r>
            <a:endParaRPr/>
          </a:p>
        </p:txBody>
      </p:sp>
      <p:sp>
        <p:nvSpPr>
          <p:cNvPr id="117" name="Google Shape;117;p15"/>
          <p:cNvSpPr txBox="1"/>
          <p:nvPr/>
        </p:nvSpPr>
        <p:spPr>
          <a:xfrm>
            <a:off x="8477250" y="3719661"/>
            <a:ext cx="2857500" cy="17331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50" u="none" cap="none" strike="noStrike">
                <a:solidFill>
                  <a:srgbClr val="334155"/>
                </a:solidFill>
                <a:latin typeface="Afacad Flux"/>
                <a:ea typeface="Afacad Flux"/>
                <a:cs typeface="Afacad Flux"/>
                <a:sym typeface="Afacad Flux"/>
              </a:rPr>
              <a:t>Download the files once to your local system, allowing it to run entirely offline using your own computer's processing power.</a:t>
            </a:r>
            <a:endParaRPr/>
          </a:p>
        </p:txBody>
      </p:sp>
      <p:pic>
        <p:nvPicPr>
          <p:cNvPr descr="image.png" id="118" name="Google Shape;118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976437" y="2233761"/>
            <a:ext cx="619125" cy="619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9" name="Google Shape;119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86437" y="2233761"/>
            <a:ext cx="619125" cy="619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0" name="Google Shape;120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520237" y="2233761"/>
            <a:ext cx="771525" cy="61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5" name="Google Shape;12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1767036"/>
            <a:ext cx="3429000" cy="420960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81500" y="1767036"/>
            <a:ext cx="3429000" cy="420960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91500" y="1767036"/>
            <a:ext cx="3429000" cy="4209603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6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900" u="none" cap="none" strike="noStrike">
                <a:solidFill>
                  <a:srgbClr val="1E293B"/>
                </a:solidFill>
                <a:latin typeface="Comfortaa"/>
                <a:ea typeface="Comfortaa"/>
                <a:cs typeface="Comfortaa"/>
                <a:sym typeface="Comfortaa"/>
              </a:rPr>
              <a:t>Deep Dive: OpenAI GPT-4 API (Service)</a:t>
            </a:r>
            <a:endParaRPr/>
          </a:p>
        </p:txBody>
      </p:sp>
      <p:sp>
        <p:nvSpPr>
          <p:cNvPr id="129" name="Google Shape;129;p16"/>
          <p:cNvSpPr txBox="1"/>
          <p:nvPr/>
        </p:nvSpPr>
        <p:spPr>
          <a:xfrm>
            <a:off x="1625917" y="3214836"/>
            <a:ext cx="1320165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Comfortaa"/>
                <a:ea typeface="Comfortaa"/>
                <a:cs typeface="Comfortaa"/>
                <a:sym typeface="Comfortaa"/>
              </a:rPr>
              <a:t>Origins</a:t>
            </a:r>
            <a:endParaRPr/>
          </a:p>
        </p:txBody>
      </p:sp>
      <p:sp>
        <p:nvSpPr>
          <p:cNvPr id="130" name="Google Shape;130;p16"/>
          <p:cNvSpPr txBox="1"/>
          <p:nvPr/>
        </p:nvSpPr>
        <p:spPr>
          <a:xfrm>
            <a:off x="857250" y="3719661"/>
            <a:ext cx="2857500" cy="17331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50" u="none" cap="none" strike="noStrike">
                <a:solidFill>
                  <a:srgbClr val="334155"/>
                </a:solidFill>
                <a:latin typeface="Afacad Flux"/>
                <a:ea typeface="Afacad Flux"/>
                <a:cs typeface="Afacad Flux"/>
                <a:sym typeface="Afacad Flux"/>
              </a:rPr>
              <a:t>Launched in 2023. This is a premium service where you pay a small fee to use a very advanced AI over the internet.</a:t>
            </a:r>
            <a:endParaRPr/>
          </a:p>
        </p:txBody>
      </p:sp>
      <p:sp>
        <p:nvSpPr>
          <p:cNvPr id="131" name="Google Shape;131;p16"/>
          <p:cNvSpPr txBox="1"/>
          <p:nvPr/>
        </p:nvSpPr>
        <p:spPr>
          <a:xfrm>
            <a:off x="4755832" y="3214836"/>
            <a:ext cx="2680335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Comfortaa"/>
                <a:ea typeface="Comfortaa"/>
                <a:cs typeface="Comfortaa"/>
                <a:sym typeface="Comfortaa"/>
              </a:rPr>
              <a:t>Incredibly Easy</a:t>
            </a:r>
            <a:endParaRPr/>
          </a:p>
        </p:txBody>
      </p:sp>
      <p:sp>
        <p:nvSpPr>
          <p:cNvPr id="132" name="Google Shape;132;p16"/>
          <p:cNvSpPr txBox="1"/>
          <p:nvPr/>
        </p:nvSpPr>
        <p:spPr>
          <a:xfrm>
            <a:off x="4667250" y="3719661"/>
            <a:ext cx="2857500" cy="17331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50" u="none" cap="none" strike="noStrike">
                <a:solidFill>
                  <a:srgbClr val="334155"/>
                </a:solidFill>
                <a:latin typeface="Afacad Flux"/>
                <a:ea typeface="Afacad Flux"/>
                <a:cs typeface="Afacad Flux"/>
                <a:sym typeface="Afacad Flux"/>
              </a:rPr>
              <a:t>No powerful computers needed! Just send a simple request and get an answer back instantly. You can start using it today.</a:t>
            </a:r>
            <a:endParaRPr/>
          </a:p>
        </p:txBody>
      </p:sp>
      <p:sp>
        <p:nvSpPr>
          <p:cNvPr id="133" name="Google Shape;133;p16"/>
          <p:cNvSpPr txBox="1"/>
          <p:nvPr/>
        </p:nvSpPr>
        <p:spPr>
          <a:xfrm>
            <a:off x="8530828" y="3214836"/>
            <a:ext cx="2750343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Comfortaa"/>
                <a:ea typeface="Comfortaa"/>
                <a:cs typeface="Comfortaa"/>
                <a:sym typeface="Comfortaa"/>
              </a:rPr>
              <a:t>Always Evolving</a:t>
            </a:r>
            <a:endParaRPr/>
          </a:p>
        </p:txBody>
      </p:sp>
      <p:sp>
        <p:nvSpPr>
          <p:cNvPr id="134" name="Google Shape;134;p16"/>
          <p:cNvSpPr txBox="1"/>
          <p:nvPr/>
        </p:nvSpPr>
        <p:spPr>
          <a:xfrm>
            <a:off x="8477250" y="3719661"/>
            <a:ext cx="2857500" cy="17331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50" u="none" cap="none" strike="noStrike">
                <a:solidFill>
                  <a:srgbClr val="334155"/>
                </a:solidFill>
                <a:latin typeface="Afacad Flux"/>
                <a:ea typeface="Afacad Flux"/>
                <a:cs typeface="Afacad Flux"/>
                <a:sym typeface="Afacad Flux"/>
              </a:rPr>
              <a:t>Constantly improved behind the scenes by OpenAI, so you always have access to the latest, smartest version automatically.</a:t>
            </a:r>
            <a:endParaRPr/>
          </a:p>
        </p:txBody>
      </p:sp>
      <p:pic>
        <p:nvPicPr>
          <p:cNvPr descr="image.png" id="135" name="Google Shape;135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900237" y="2233761"/>
            <a:ext cx="771525" cy="619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6" name="Google Shape;136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86437" y="2233761"/>
            <a:ext cx="619125" cy="619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7" name="Google Shape;137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558337" y="2233761"/>
            <a:ext cx="695325" cy="61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3E8FF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7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900" u="none" cap="none" strike="noStrike">
                <a:solidFill>
                  <a:srgbClr val="1E293B"/>
                </a:solidFill>
                <a:latin typeface="Comfortaa"/>
                <a:ea typeface="Comfortaa"/>
                <a:cs typeface="Comfortaa"/>
                <a:sym typeface="Comfortaa"/>
              </a:rPr>
              <a:t>Head-to-Head Comparison Matrix</a:t>
            </a:r>
            <a:endParaRPr/>
          </a:p>
        </p:txBody>
      </p:sp>
      <p:graphicFrame>
        <p:nvGraphicFramePr>
          <p:cNvPr id="143" name="Google Shape;143;p17"/>
          <p:cNvGraphicFramePr/>
          <p:nvPr/>
        </p:nvGraphicFramePr>
        <p:xfrm>
          <a:off x="571500" y="154617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{81EEB1BC-03CA-4238-B1A2-6C6A4D50A31A}</a:tableStyleId>
              </a:tblPr>
              <a:tblGrid>
                <a:gridCol w="2371725"/>
                <a:gridCol w="4658325"/>
                <a:gridCol w="4018950"/>
              </a:tblGrid>
              <a:tr h="1162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2250" u="none" cap="none" strike="noStrike">
                          <a:solidFill>
                            <a:srgbClr val="FFFFFF"/>
                          </a:solidFill>
                          <a:latin typeface="Comfortaa"/>
                          <a:ea typeface="Comfortaa"/>
                          <a:cs typeface="Comfortaa"/>
                          <a:sym typeface="Comfortaa"/>
                        </a:rPr>
                        <a:t>Comparison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A78B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2250" u="none" cap="none" strike="noStrike">
                          <a:solidFill>
                            <a:srgbClr val="FFFFFF"/>
                          </a:solidFill>
                          <a:latin typeface="Comfortaa"/>
                          <a:ea typeface="Comfortaa"/>
                          <a:cs typeface="Comfortaa"/>
                          <a:sym typeface="Comfortaa"/>
                        </a:rPr>
                        <a:t>Hugging Face (DIY)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A78B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2250" u="none" cap="none" strike="noStrike">
                          <a:solidFill>
                            <a:srgbClr val="FFFFFF"/>
                          </a:solidFill>
                          <a:latin typeface="Comfortaa"/>
                          <a:ea typeface="Comfortaa"/>
                          <a:cs typeface="Comfortaa"/>
                          <a:sym typeface="Comfortaa"/>
                        </a:rPr>
                        <a:t>OpenAI (Service)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A78BFA"/>
                    </a:solidFill>
                  </a:tcPr>
                </a:tc>
              </a:tr>
              <a:tr h="1162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950" u="none" cap="none" strike="noStrike">
                          <a:solidFill>
                            <a:srgbClr val="1E293B"/>
                          </a:solidFill>
                          <a:latin typeface="Afacad Flux SemiBold"/>
                          <a:ea typeface="Afacad Flux SemiBold"/>
                          <a:cs typeface="Afacad Flux SemiBold"/>
                          <a:sym typeface="Afacad Flux SemiBold"/>
                        </a:rPr>
                        <a:t>Ease of Use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950" u="none" cap="none" strike="noStrike">
                          <a:solidFill>
                            <a:srgbClr val="334155"/>
                          </a:solidFill>
                          <a:latin typeface="Afacad Flux"/>
                          <a:ea typeface="Afacad Flux"/>
                          <a:cs typeface="Afacad Flux"/>
                          <a:sym typeface="Afacad Flux"/>
                        </a:rPr>
                        <a:t>Requires technical skills and your own computers.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950" u="none" cap="none" strike="noStrike">
                          <a:solidFill>
                            <a:srgbClr val="334155"/>
                          </a:solidFill>
                          <a:latin typeface="Afacad Flux"/>
                          <a:ea typeface="Afacad Flux"/>
                          <a:cs typeface="Afacad Flux"/>
                          <a:sym typeface="Afacad Flux"/>
                        </a:rPr>
                        <a:t>Very easy; works like a website service.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1162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950" u="none" cap="none" strike="noStrike">
                          <a:solidFill>
                            <a:srgbClr val="1E293B"/>
                          </a:solidFill>
                          <a:latin typeface="Afacad Flux SemiBold"/>
                          <a:ea typeface="Afacad Flux SemiBold"/>
                          <a:cs typeface="Afacad Flux SemiBold"/>
                          <a:sym typeface="Afacad Flux SemiBold"/>
                        </a:rPr>
                        <a:t>Privacy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950" u="none" cap="none" strike="noStrike">
                          <a:solidFill>
                            <a:srgbClr val="334155"/>
                          </a:solidFill>
                          <a:latin typeface="Afacad Flux"/>
                          <a:ea typeface="Afacad Flux"/>
                          <a:cs typeface="Afacad Flux"/>
                          <a:sym typeface="Afacad Flux"/>
                        </a:rPr>
                        <a:t>Excellent; your data stays with you.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950" u="none" cap="none" strike="noStrike">
                          <a:solidFill>
                            <a:srgbClr val="334155"/>
                          </a:solidFill>
                          <a:latin typeface="Afacad Flux"/>
                          <a:ea typeface="Afacad Flux"/>
                          <a:cs typeface="Afacad Flux"/>
                          <a:sym typeface="Afacad Flux"/>
                        </a:rPr>
                        <a:t>Data is sent to OpenAI to be processed.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11628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950" u="none" cap="none" strike="noStrike">
                          <a:solidFill>
                            <a:srgbClr val="1E293B"/>
                          </a:solidFill>
                          <a:latin typeface="Afacad Flux SemiBold"/>
                          <a:ea typeface="Afacad Flux SemiBold"/>
                          <a:cs typeface="Afacad Flux SemiBold"/>
                          <a:sym typeface="Afacad Flux SemiBold"/>
                        </a:rPr>
                        <a:t>Cost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950" u="none" cap="none" strike="noStrike">
                          <a:solidFill>
                            <a:srgbClr val="334155"/>
                          </a:solidFill>
                          <a:latin typeface="Afacad Flux"/>
                          <a:ea typeface="Afacad Flux"/>
                          <a:cs typeface="Afacad Flux"/>
                          <a:sym typeface="Afacad Flux"/>
                        </a:rPr>
                        <a:t>You pay for the computer power you use.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950" u="none" cap="none" strike="noStrike">
                          <a:solidFill>
                            <a:srgbClr val="334155"/>
                          </a:solidFill>
                          <a:latin typeface="Afacad Flux"/>
                          <a:ea typeface="Afacad Flux"/>
                          <a:cs typeface="Afacad Flux"/>
                          <a:sym typeface="Afacad Flux"/>
                        </a:rPr>
                        <a:t>You pay for each answer the AI gives you.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4" name="Google Shape;144;p17"/>
          <p:cNvSpPr/>
          <p:nvPr/>
        </p:nvSpPr>
        <p:spPr>
          <a:xfrm>
            <a:off x="2924175" y="1546175"/>
            <a:ext cx="19050" cy="9334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/>
          <p:nvPr/>
        </p:nvSpPr>
        <p:spPr>
          <a:xfrm>
            <a:off x="7582495" y="1546175"/>
            <a:ext cx="19050" cy="9334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7"/>
          <p:cNvSpPr/>
          <p:nvPr/>
        </p:nvSpPr>
        <p:spPr>
          <a:xfrm>
            <a:off x="571500" y="3706266"/>
            <a:ext cx="2371725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7"/>
          <p:cNvSpPr/>
          <p:nvPr/>
        </p:nvSpPr>
        <p:spPr>
          <a:xfrm>
            <a:off x="2924175" y="2479625"/>
            <a:ext cx="19050" cy="1245691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7"/>
          <p:cNvSpPr/>
          <p:nvPr/>
        </p:nvSpPr>
        <p:spPr>
          <a:xfrm>
            <a:off x="2943225" y="3706266"/>
            <a:ext cx="4658320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/>
          <p:nvPr/>
        </p:nvSpPr>
        <p:spPr>
          <a:xfrm>
            <a:off x="7582495" y="2479625"/>
            <a:ext cx="19050" cy="1245691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7"/>
          <p:cNvSpPr/>
          <p:nvPr/>
        </p:nvSpPr>
        <p:spPr>
          <a:xfrm>
            <a:off x="7601545" y="3706266"/>
            <a:ext cx="4018954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7"/>
          <p:cNvSpPr/>
          <p:nvPr/>
        </p:nvSpPr>
        <p:spPr>
          <a:xfrm>
            <a:off x="571500" y="4951958"/>
            <a:ext cx="2371725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7"/>
          <p:cNvSpPr/>
          <p:nvPr/>
        </p:nvSpPr>
        <p:spPr>
          <a:xfrm>
            <a:off x="2924175" y="3725316"/>
            <a:ext cx="19050" cy="1245691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7"/>
          <p:cNvSpPr/>
          <p:nvPr/>
        </p:nvSpPr>
        <p:spPr>
          <a:xfrm>
            <a:off x="2943225" y="4951958"/>
            <a:ext cx="4658320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7"/>
          <p:cNvSpPr/>
          <p:nvPr/>
        </p:nvSpPr>
        <p:spPr>
          <a:xfrm>
            <a:off x="7582495" y="3725316"/>
            <a:ext cx="19050" cy="1245691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7"/>
          <p:cNvSpPr/>
          <p:nvPr/>
        </p:nvSpPr>
        <p:spPr>
          <a:xfrm>
            <a:off x="7601545" y="4951958"/>
            <a:ext cx="4018954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7"/>
          <p:cNvSpPr/>
          <p:nvPr/>
        </p:nvSpPr>
        <p:spPr>
          <a:xfrm>
            <a:off x="2924175" y="4971008"/>
            <a:ext cx="19050" cy="1226641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7"/>
          <p:cNvSpPr/>
          <p:nvPr/>
        </p:nvSpPr>
        <p:spPr>
          <a:xfrm>
            <a:off x="7582495" y="4971008"/>
            <a:ext cx="19050" cy="1226641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D1FAE5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2" name="Google Shape;16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1968996"/>
            <a:ext cx="5238750" cy="380583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3" name="Google Shape;163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81750" y="1968996"/>
            <a:ext cx="5238750" cy="380583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4" name="Google Shape;164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00125" y="4085183"/>
            <a:ext cx="4381500" cy="12610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5" name="Google Shape;165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10375" y="4085183"/>
            <a:ext cx="4381500" cy="126102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8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900" u="none" cap="none" strike="noStrike">
                <a:solidFill>
                  <a:srgbClr val="1E293B"/>
                </a:solidFill>
                <a:latin typeface="Comfortaa"/>
                <a:ea typeface="Comfortaa"/>
                <a:cs typeface="Comfortaa"/>
                <a:sym typeface="Comfortaa"/>
              </a:rPr>
              <a:t>Real-World Applications</a:t>
            </a:r>
            <a:endParaRPr/>
          </a:p>
        </p:txBody>
      </p:sp>
      <p:sp>
        <p:nvSpPr>
          <p:cNvPr id="167" name="Google Shape;167;p18"/>
          <p:cNvSpPr txBox="1"/>
          <p:nvPr/>
        </p:nvSpPr>
        <p:spPr>
          <a:xfrm>
            <a:off x="1466850" y="2397621"/>
            <a:ext cx="4110513" cy="3619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16A34A"/>
                </a:solidFill>
                <a:latin typeface="Comfortaa"/>
                <a:ea typeface="Comfortaa"/>
                <a:cs typeface="Comfortaa"/>
                <a:sym typeface="Comfortaa"/>
              </a:rPr>
              <a:t>Hugging Face</a:t>
            </a:r>
            <a:endParaRPr/>
          </a:p>
        </p:txBody>
      </p:sp>
      <p:sp>
        <p:nvSpPr>
          <p:cNvPr id="168" name="Google Shape;168;p18"/>
          <p:cNvSpPr txBox="1"/>
          <p:nvPr/>
        </p:nvSpPr>
        <p:spPr>
          <a:xfrm>
            <a:off x="1000125" y="2902446"/>
            <a:ext cx="4381500" cy="1039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334155"/>
                </a:solidFill>
                <a:latin typeface="Afacad Flux"/>
                <a:ea typeface="Afacad Flux"/>
                <a:cs typeface="Afacad Flux"/>
                <a:sym typeface="Afacad Flux"/>
              </a:rPr>
              <a:t>Best for: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facad Flux"/>
                <a:ea typeface="Afacad Flux"/>
                <a:cs typeface="Afacad Flux"/>
                <a:sym typeface="Afacad Flux"/>
              </a:rPr>
              <a:t> Organizations like hospitals or banks that must keep their data strictly private and on their own internal systems.</a:t>
            </a:r>
            <a:endParaRPr/>
          </a:p>
        </p:txBody>
      </p:sp>
      <p:sp>
        <p:nvSpPr>
          <p:cNvPr id="169" name="Google Shape;169;p18"/>
          <p:cNvSpPr txBox="1"/>
          <p:nvPr/>
        </p:nvSpPr>
        <p:spPr>
          <a:xfrm>
            <a:off x="7200900" y="2397621"/>
            <a:ext cx="4190523" cy="3619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0284C7"/>
                </a:solidFill>
                <a:latin typeface="Comfortaa"/>
                <a:ea typeface="Comfortaa"/>
                <a:cs typeface="Comfortaa"/>
                <a:sym typeface="Comfortaa"/>
              </a:rPr>
              <a:t>OpenAI API</a:t>
            </a:r>
            <a:endParaRPr/>
          </a:p>
        </p:txBody>
      </p:sp>
      <p:sp>
        <p:nvSpPr>
          <p:cNvPr id="170" name="Google Shape;170;p18"/>
          <p:cNvSpPr txBox="1"/>
          <p:nvPr/>
        </p:nvSpPr>
        <p:spPr>
          <a:xfrm>
            <a:off x="6810375" y="2902446"/>
            <a:ext cx="4381500" cy="1039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334155"/>
                </a:solidFill>
                <a:latin typeface="Afacad Flux"/>
                <a:ea typeface="Afacad Flux"/>
                <a:cs typeface="Afacad Flux"/>
                <a:sym typeface="Afacad Flux"/>
              </a:rPr>
              <a:t>Best for: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facad Flux"/>
                <a:ea typeface="Afacad Flux"/>
                <a:cs typeface="Afacad Flux"/>
                <a:sym typeface="Afacad Flux"/>
              </a:rPr>
              <a:t> Quickly building new apps, creating smart customer service bots, or accessing the smartest AI without buying servers.</a:t>
            </a:r>
            <a:endParaRPr/>
          </a:p>
        </p:txBody>
      </p:sp>
      <p:pic>
        <p:nvPicPr>
          <p:cNvPr descr="image.png" id="171" name="Google Shape;171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00125" y="2416671"/>
            <a:ext cx="323850" cy="32385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8"/>
          <p:cNvSpPr txBox="1"/>
          <p:nvPr/>
        </p:nvSpPr>
        <p:spPr>
          <a:xfrm>
            <a:off x="1190625" y="4275683"/>
            <a:ext cx="4000500" cy="88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Afacad Flux"/>
                <a:ea typeface="Afacad Flux"/>
                <a:cs typeface="Afacad Flux"/>
                <a:sym typeface="Afacad Flux"/>
              </a:rPr>
              <a:t>Example:</a:t>
            </a:r>
            <a:r>
              <a:rPr b="0" i="0" lang="en-US" sz="1650" u="none" cap="none" strike="noStrike">
                <a:solidFill>
                  <a:srgbClr val="334155"/>
                </a:solidFill>
                <a:latin typeface="Afacad Flux"/>
                <a:ea typeface="Afacad Flux"/>
                <a:cs typeface="Afacad Flux"/>
                <a:sym typeface="Afacad Flux"/>
              </a:rPr>
              <a:t> JPMorgan Chase uses open-source transformer models to analyze financial documents safely on their own infrastructure.</a:t>
            </a:r>
            <a:endParaRPr/>
          </a:p>
        </p:txBody>
      </p:sp>
      <p:pic>
        <p:nvPicPr>
          <p:cNvPr descr="image.png" id="173" name="Google Shape;173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810375" y="2416671"/>
            <a:ext cx="247650" cy="32385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18"/>
          <p:cNvSpPr txBox="1"/>
          <p:nvPr/>
        </p:nvSpPr>
        <p:spPr>
          <a:xfrm>
            <a:off x="7000875" y="4275683"/>
            <a:ext cx="4000500" cy="88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Afacad Flux"/>
                <a:ea typeface="Afacad Flux"/>
                <a:cs typeface="Afacad Flux"/>
                <a:sym typeface="Afacad Flux"/>
              </a:rPr>
              <a:t>Example:</a:t>
            </a:r>
            <a:r>
              <a:rPr b="0" i="0" lang="en-US" sz="1650" u="none" cap="none" strike="noStrike">
                <a:solidFill>
                  <a:srgbClr val="334155"/>
                </a:solidFill>
                <a:latin typeface="Afacad Flux"/>
                <a:ea typeface="Afacad Flux"/>
                <a:cs typeface="Afacad Flux"/>
                <a:sym typeface="Afacad Flux"/>
              </a:rPr>
              <a:t> Duolingo integrates GPT-4 to power their AI language tutor, ensuring students get the most advanced teaching possible.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EDD5"/>
        </a:solid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9"/>
          <p:cNvSpPr txBox="1"/>
          <p:nvPr/>
        </p:nvSpPr>
        <p:spPr>
          <a:xfrm>
            <a:off x="571500" y="516433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900" u="none" cap="none" strike="noStrike">
                <a:solidFill>
                  <a:srgbClr val="1E293B"/>
                </a:solidFill>
                <a:latin typeface="Comfortaa"/>
                <a:ea typeface="Comfortaa"/>
                <a:cs typeface="Comfortaa"/>
                <a:sym typeface="Comfortaa"/>
              </a:rPr>
              <a:t>Practical Demonstration</a:t>
            </a:r>
            <a:endParaRPr/>
          </a:p>
        </p:txBody>
      </p:sp>
      <p:sp>
        <p:nvSpPr>
          <p:cNvPr id="180" name="Google Shape;180;p19"/>
          <p:cNvSpPr txBox="1"/>
          <p:nvPr/>
        </p:nvSpPr>
        <p:spPr>
          <a:xfrm>
            <a:off x="571500" y="1887438"/>
            <a:ext cx="3746700" cy="422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rPr>
              <a:t>🤗 Hugging Face (The Specialist)</a:t>
            </a:r>
            <a:endParaRPr sz="1200">
              <a:solidFill>
                <a:schemeClr val="dk1"/>
              </a:solidFill>
              <a:latin typeface="Afacad Flux"/>
              <a:ea typeface="Afacad Flux"/>
              <a:cs typeface="Afacad Flux"/>
              <a:sym typeface="Afacad Flux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US" sz="12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rPr>
              <a:t>Purpose-Built: We used a small, open-source model trained </a:t>
            </a:r>
            <a:r>
              <a:rPr i="1" lang="en-US" sz="12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rPr>
              <a:t>specifically</a:t>
            </a:r>
            <a:r>
              <a:rPr lang="en-US" sz="12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rPr>
              <a:t> for sentiment analysis.</a:t>
            </a:r>
            <a:endParaRPr sz="1200">
              <a:solidFill>
                <a:schemeClr val="dk1"/>
              </a:solidFill>
              <a:latin typeface="Afacad Flux"/>
              <a:ea typeface="Afacad Flux"/>
              <a:cs typeface="Afacad Flux"/>
              <a:sym typeface="Afacad Flux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US" sz="12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rPr>
              <a:t>Simple Input: We just fed it the sentence. Since its only job is sentiment, it didn't need extra instructions.</a:t>
            </a:r>
            <a:endParaRPr sz="1200">
              <a:solidFill>
                <a:schemeClr val="dk1"/>
              </a:solidFill>
              <a:latin typeface="Afacad Flux"/>
              <a:ea typeface="Afacad Flux"/>
              <a:cs typeface="Afacad Flux"/>
              <a:sym typeface="Afacad Flux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US" sz="12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rPr>
              <a:t>Local Speed: It ran entirely on our machine (Google Colab), giving us instant results without the internet.</a:t>
            </a:r>
            <a:endParaRPr sz="1200">
              <a:solidFill>
                <a:schemeClr val="dk1"/>
              </a:solidFill>
              <a:latin typeface="Afacad Flux"/>
              <a:ea typeface="Afacad Flux"/>
              <a:cs typeface="Afacad Flux"/>
              <a:sym typeface="Afacad Flux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rPr>
              <a:t>☁️ OpenAI API (The Generalist)</a:t>
            </a:r>
            <a:endParaRPr sz="1200">
              <a:solidFill>
                <a:schemeClr val="dk1"/>
              </a:solidFill>
              <a:latin typeface="Afacad Flux"/>
              <a:ea typeface="Afacad Flux"/>
              <a:cs typeface="Afacad Flux"/>
              <a:sym typeface="Afacad Flux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US" sz="12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rPr>
              <a:t>All-Purpose: We connected to </a:t>
            </a:r>
            <a:r>
              <a:rPr lang="en-US" sz="1200">
                <a:solidFill>
                  <a:srgbClr val="188038"/>
                </a:solidFill>
                <a:latin typeface="Afacad Flux"/>
                <a:ea typeface="Afacad Flux"/>
                <a:cs typeface="Afacad Flux"/>
                <a:sym typeface="Afacad Flux"/>
              </a:rPr>
              <a:t>gpt-4o-mini</a:t>
            </a:r>
            <a:r>
              <a:rPr lang="en-US" sz="12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rPr>
              <a:t>, a massive AI that can do almost anything.</a:t>
            </a:r>
            <a:endParaRPr sz="1200">
              <a:solidFill>
                <a:schemeClr val="dk1"/>
              </a:solidFill>
              <a:latin typeface="Afacad Flux"/>
              <a:ea typeface="Afacad Flux"/>
              <a:cs typeface="Afacad Flux"/>
              <a:sym typeface="Afacad Flux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US" sz="12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rPr>
              <a:t>Explicit Prompting: Because it's a general AI, we had to tell it exactly </a:t>
            </a:r>
            <a:r>
              <a:rPr i="1" lang="en-US" sz="12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rPr>
              <a:t>what</a:t>
            </a:r>
            <a:r>
              <a:rPr lang="en-US" sz="12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rPr>
              <a:t> to do ("Classify sentiment as POSITIVE/NEGATIVE").</a:t>
            </a:r>
            <a:endParaRPr sz="1200">
              <a:solidFill>
                <a:schemeClr val="dk1"/>
              </a:solidFill>
              <a:latin typeface="Afacad Flux"/>
              <a:ea typeface="Afacad Flux"/>
              <a:cs typeface="Afacad Flux"/>
              <a:sym typeface="Afacad Flux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US" sz="1200">
                <a:solidFill>
                  <a:schemeClr val="dk1"/>
                </a:solidFill>
                <a:latin typeface="Afacad Flux"/>
                <a:ea typeface="Afacad Flux"/>
                <a:cs typeface="Afacad Flux"/>
                <a:sym typeface="Afacad Flux"/>
              </a:rPr>
              <a:t>Cloud Processing: Our text was securely sent over the internet to OpenAI’s servers to be processed.</a:t>
            </a:r>
            <a:endParaRPr sz="2100">
              <a:solidFill>
                <a:schemeClr val="dk1"/>
              </a:solidFill>
              <a:latin typeface="Afacad Flux"/>
              <a:ea typeface="Afacad Flux"/>
              <a:cs typeface="Afacad Flux"/>
              <a:sym typeface="Afacad Flux"/>
            </a:endParaRPr>
          </a:p>
        </p:txBody>
      </p:sp>
      <p:pic>
        <p:nvPicPr>
          <p:cNvPr id="181" name="Google Shape;181;p19" title="Demo_Comparison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61325" y="1284700"/>
            <a:ext cx="7108500" cy="5331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6" name="Google Shape;186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90625" y="1871662"/>
            <a:ext cx="4000500" cy="400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20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900" u="none" cap="none" strike="noStrike">
                <a:solidFill>
                  <a:srgbClr val="1E293B"/>
                </a:solidFill>
                <a:latin typeface="Comfortaa"/>
                <a:ea typeface="Comfortaa"/>
                <a:cs typeface="Comfortaa"/>
                <a:sym typeface="Comfortaa"/>
              </a:rPr>
              <a:t>Summary &amp; Trade-off Framework</a:t>
            </a:r>
            <a:endParaRPr/>
          </a:p>
        </p:txBody>
      </p:sp>
      <p:sp>
        <p:nvSpPr>
          <p:cNvPr id="188" name="Google Shape;188;p20"/>
          <p:cNvSpPr txBox="1"/>
          <p:nvPr/>
        </p:nvSpPr>
        <p:spPr>
          <a:xfrm>
            <a:off x="6381750" y="1736675"/>
            <a:ext cx="5500687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50" u="none" cap="none" strike="noStrike">
                <a:solidFill>
                  <a:srgbClr val="1E293B"/>
                </a:solidFill>
                <a:latin typeface="Comfortaa"/>
                <a:ea typeface="Comfortaa"/>
                <a:cs typeface="Comfortaa"/>
                <a:sym typeface="Comfortaa"/>
              </a:rPr>
              <a:t>The Final Decision</a:t>
            </a:r>
            <a:endParaRPr/>
          </a:p>
        </p:txBody>
      </p:sp>
      <p:sp>
        <p:nvSpPr>
          <p:cNvPr id="189" name="Google Shape;189;p20"/>
          <p:cNvSpPr txBox="1"/>
          <p:nvPr/>
        </p:nvSpPr>
        <p:spPr>
          <a:xfrm>
            <a:off x="6381750" y="5273724"/>
            <a:ext cx="5500687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200" u="none" cap="none" strike="noStrike">
                <a:solidFill>
                  <a:srgbClr val="F97316"/>
                </a:solidFill>
                <a:latin typeface="Comfortaa"/>
                <a:ea typeface="Comfortaa"/>
                <a:cs typeface="Comfortaa"/>
                <a:sym typeface="Comfortaa"/>
              </a:rPr>
              <a:t>Any Questions?</a:t>
            </a:r>
            <a:endParaRPr/>
          </a:p>
        </p:txBody>
      </p:sp>
      <p:pic>
        <p:nvPicPr>
          <p:cNvPr descr="image.png" id="190" name="Google Shape;190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66825" y="1947862"/>
            <a:ext cx="3848100" cy="3848100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0"/>
          <p:cNvSpPr txBox="1"/>
          <p:nvPr/>
        </p:nvSpPr>
        <p:spPr>
          <a:xfrm>
            <a:off x="6715125" y="2336750"/>
            <a:ext cx="4905375" cy="1039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A78BFA"/>
                </a:solidFill>
                <a:latin typeface="Afacad Flux"/>
                <a:ea typeface="Afacad Flux"/>
                <a:cs typeface="Afacad Flux"/>
                <a:sym typeface="Afacad Flux"/>
              </a:rPr>
              <a:t>Use Hugging Face if...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facad Flux"/>
                <a:ea typeface="Afacad Flux"/>
                <a:cs typeface="Afacad Flux"/>
                <a:sym typeface="Afacad Flux"/>
              </a:rPr>
              <a:t> you must keep data strictly private, need it to work offline, or want total ownership.</a:t>
            </a:r>
            <a:endParaRPr/>
          </a:p>
        </p:txBody>
      </p:sp>
      <p:sp>
        <p:nvSpPr>
          <p:cNvPr id="192" name="Google Shape;192;p20"/>
          <p:cNvSpPr txBox="1"/>
          <p:nvPr/>
        </p:nvSpPr>
        <p:spPr>
          <a:xfrm>
            <a:off x="6715125" y="3614737"/>
            <a:ext cx="4905375" cy="1039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50" u="none" cap="none" strike="noStrike">
                <a:solidFill>
                  <a:srgbClr val="38BDF8"/>
                </a:solidFill>
                <a:latin typeface="Afacad Flux"/>
                <a:ea typeface="Afacad Flux"/>
                <a:cs typeface="Afacad Flux"/>
                <a:sym typeface="Afacad Flux"/>
              </a:rPr>
              <a:t>Use OpenAI if...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facad Flux"/>
                <a:ea typeface="Afacad Flux"/>
                <a:cs typeface="Afacad Flux"/>
                <a:sym typeface="Afacad Flux"/>
              </a:rPr>
              <a:t> you want the absolute smartest AI possible, want to build apps quickly, and prefer a service over buying hardware.</a:t>
            </a:r>
            <a:endParaRPr/>
          </a:p>
        </p:txBody>
      </p:sp>
      <p:pic>
        <p:nvPicPr>
          <p:cNvPr descr="image.png" id="193" name="Google Shape;193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81750" y="2355800"/>
            <a:ext cx="13335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4" name="Google Shape;194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81750" y="3633787"/>
            <a:ext cx="133350" cy="276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